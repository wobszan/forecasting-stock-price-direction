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69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913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78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35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86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66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5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860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66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2479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869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92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69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063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366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6155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51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hf sldNum="0" hdr="0" ftr="0" dt="0"/>
  <p:txStyles>
    <p:titleStyle>
      <a:lvl1pPr algn="ctr" defTabSz="457200" rtl="0" eaLnBrk="1" latinLnBrk="0" hangingPunct="1">
        <a:lnSpc>
          <a:spcPct val="100000"/>
        </a:lnSpc>
        <a:spcBef>
          <a:spcPct val="0"/>
        </a:spcBef>
        <a:buNone/>
        <a:defRPr sz="4000" i="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CF746B-A486-3E8A-7614-CB48B67B7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17" b="172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 flipH="1">
            <a:off x="7737531" y="1101852"/>
            <a:ext cx="4254640" cy="4654297"/>
          </a:xfrm>
          <a:prstGeom prst="round2SameRect">
            <a:avLst>
              <a:gd name="adj1" fmla="val 5146"/>
              <a:gd name="adj2" fmla="val 400"/>
            </a:avLst>
          </a:pr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3CA0BDE-843D-1247-FF6C-B2D8D954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4543" y="1623412"/>
            <a:ext cx="3503122" cy="2287229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pl-PL" sz="3100"/>
              <a:t>Zastosowanie ML do predykcji cen akcji (AAPL, MSFT, GOOGL)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B8A6CBD-051C-B13B-F60A-D292D6561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4543" y="4009771"/>
            <a:ext cx="3503122" cy="1244361"/>
          </a:xfrm>
        </p:spPr>
        <p:txBody>
          <a:bodyPr>
            <a:noAutofit/>
          </a:bodyPr>
          <a:lstStyle/>
          <a:p>
            <a:pPr algn="l"/>
            <a:r>
              <a:rPr lang="pl-PL" sz="2000" dirty="0">
                <a:solidFill>
                  <a:srgbClr val="A45F4F"/>
                </a:solidFill>
              </a:rPr>
              <a:t>Analiza porównawcza modeli klasyfikacyjnych</a:t>
            </a:r>
          </a:p>
          <a:p>
            <a:pPr algn="l"/>
            <a:r>
              <a:rPr lang="pl-PL" sz="2000" dirty="0">
                <a:solidFill>
                  <a:srgbClr val="A45F4F"/>
                </a:solidFill>
              </a:rPr>
              <a:t>Wojciech Obszański </a:t>
            </a:r>
          </a:p>
          <a:p>
            <a:pPr algn="l"/>
            <a:r>
              <a:rPr lang="pl-PL" sz="2000" dirty="0">
                <a:solidFill>
                  <a:srgbClr val="A45F4F"/>
                </a:solidFill>
              </a:rPr>
              <a:t>Jan Kociszewski</a:t>
            </a:r>
          </a:p>
        </p:txBody>
      </p:sp>
    </p:spTree>
    <p:extLst>
      <p:ext uri="{BB962C8B-B14F-4D97-AF65-F5344CB8AC3E}">
        <p14:creationId xmlns:p14="http://schemas.microsoft.com/office/powerpoint/2010/main" val="142500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B880F1BC-BB3E-3DFE-561F-36B2445D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Podejście Klasyczne (Klasyfikacja 0/1)</a:t>
            </a:r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6E969168-3DE6-CFC1-5B96-5E604E979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2600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64B2ACF2-D08A-608B-8A01-70E404B1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Diagnostyka Klasyfikacji (ROC Curve)</a:t>
            </a:r>
          </a:p>
        </p:txBody>
      </p:sp>
      <p:pic>
        <p:nvPicPr>
          <p:cNvPr id="7" name="Symbol zastępczy zawartości 6" descr="Obraz zawierający linia, Wykres, diagram, tekst&#10;&#10;Zawartość wygenerowana przez AI może być niepoprawna.">
            <a:extLst>
              <a:ext uri="{FF2B5EF4-FFF2-40B4-BE49-F238E27FC236}">
                <a16:creationId xmlns:a16="http://schemas.microsoft.com/office/drawing/2014/main" id="{8C74130B-E81D-12F9-9167-3B6BF7CC4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62" y="2249424"/>
            <a:ext cx="11497076" cy="31472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336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8D0DBB-A997-9B0B-3406-B93BA2712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Stabilność w czasie (Rolling Accuracy 0/1)</a:t>
            </a:r>
          </a:p>
        </p:txBody>
      </p:sp>
      <p:pic>
        <p:nvPicPr>
          <p:cNvPr id="5" name="Symbol zastępczy zawartości 4" descr="Obraz zawierający linia, tekst, Wykres, Czcionka&#10;&#10;Zawartość wygenerowana przez AI może być niepoprawna.">
            <a:extLst>
              <a:ext uri="{FF2B5EF4-FFF2-40B4-BE49-F238E27FC236}">
                <a16:creationId xmlns:a16="http://schemas.microsoft.com/office/drawing/2014/main" id="{F16CA44F-E363-BC0B-5C2B-83A427B4F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22" y="2086356"/>
            <a:ext cx="11584507" cy="31242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3012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DDBB50-E0FA-0EC3-06FC-2E3B6176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Wyniki Finansowe Klasyfikacji (Equity Curve &amp; Drawdown)</a:t>
            </a:r>
          </a:p>
        </p:txBody>
      </p:sp>
      <p:pic>
        <p:nvPicPr>
          <p:cNvPr id="5" name="Symbol zastępczy zawartości 4" descr="Obraz zawierający diagram, Wykres, linia, tekst&#10;&#10;Zawartość wygenerowana przez AI może być niepoprawna.">
            <a:extLst>
              <a:ext uri="{FF2B5EF4-FFF2-40B4-BE49-F238E27FC236}">
                <a16:creationId xmlns:a16="http://schemas.microsoft.com/office/drawing/2014/main" id="{DC1FA030-B8E3-F76E-C7A5-9503EC7DD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38" y="2121408"/>
            <a:ext cx="10810875" cy="373989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002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3E6889-3808-0D9A-0A21-3CFAEC1A2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Drawdown</a:t>
            </a:r>
          </a:p>
        </p:txBody>
      </p:sp>
      <p:pic>
        <p:nvPicPr>
          <p:cNvPr id="5" name="Symbol zastępczy zawartości 4" descr="Obraz zawierający tekst, Wykres, linia, diagram&#10;&#10;Zawartość wygenerowana przez AI może być niepoprawna.">
            <a:extLst>
              <a:ext uri="{FF2B5EF4-FFF2-40B4-BE49-F238E27FC236}">
                <a16:creationId xmlns:a16="http://schemas.microsoft.com/office/drawing/2014/main" id="{C7700E02-82C9-E7E2-EAFF-67413DD57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92" y="2240280"/>
            <a:ext cx="11100816" cy="339242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7339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5352D8AE-6E64-166E-E4DA-767437799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Podejście Zaawansowane (Triple Barrier Method - TBM)</a:t>
            </a:r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BF7BA798-F296-26A1-2F2F-DD973EF4C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49978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B9F629-4D28-DBED-1A6D-78BE4A94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257300"/>
          </a:xfrm>
        </p:spPr>
        <p:txBody>
          <a:bodyPr/>
          <a:lstStyle/>
          <a:p>
            <a:r>
              <a:rPr lang="pl-PL" dirty="0"/>
              <a:t>Porównanie Modeli (Model Comparison)</a:t>
            </a:r>
          </a:p>
        </p:txBody>
      </p:sp>
      <p:pic>
        <p:nvPicPr>
          <p:cNvPr id="7" name="Symbol zastępczy zawartości 6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2FCF83ED-69DB-17D4-A6C8-D17B02CC9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090" y="1016001"/>
            <a:ext cx="7573819" cy="56572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6266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B29E39-E86E-7CF5-0077-310ACCB61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Przełom w Wynikach (TBM Equity Curve)</a:t>
            </a:r>
          </a:p>
        </p:txBody>
      </p:sp>
      <p:pic>
        <p:nvPicPr>
          <p:cNvPr id="9" name="Symbol zastępczy zawartości 8" descr="Obraz zawierający tekst, diagram, linia, Wykres&#10;&#10;Zawartość wygenerowana przez AI może być niepoprawna.">
            <a:extLst>
              <a:ext uri="{FF2B5EF4-FFF2-40B4-BE49-F238E27FC236}">
                <a16:creationId xmlns:a16="http://schemas.microsoft.com/office/drawing/2014/main" id="{425DCF95-7C34-D37A-7C3C-2232C0AE3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45" y="1866900"/>
            <a:ext cx="11711709" cy="395200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810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D95DDB-B6AD-74CB-77C1-2CF866A42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Analiza Ryzyka i Zysku (P/L &amp; Heatmap TBM)</a:t>
            </a:r>
          </a:p>
        </p:txBody>
      </p:sp>
      <p:pic>
        <p:nvPicPr>
          <p:cNvPr id="7" name="Symbol zastępczy zawartości 6" descr="Obraz zawierający diagram, Wykres, linia&#10;&#10;Zawartość wygenerowana przez AI może być niepoprawna.">
            <a:extLst>
              <a:ext uri="{FF2B5EF4-FFF2-40B4-BE49-F238E27FC236}">
                <a16:creationId xmlns:a16="http://schemas.microsoft.com/office/drawing/2014/main" id="{2B6BFD76-9A5D-2A5C-ED36-E680BA96F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863" y="2216727"/>
            <a:ext cx="11412274" cy="36391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7219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3DF0A4-1F5A-8662-1BAB-DF1D7ACF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7" y="0"/>
            <a:ext cx="10353762" cy="1257300"/>
          </a:xfrm>
        </p:spPr>
        <p:txBody>
          <a:bodyPr/>
          <a:lstStyle/>
          <a:p>
            <a:r>
              <a:rPr lang="pl-PL" dirty="0"/>
              <a:t>Heatmap</a:t>
            </a:r>
          </a:p>
        </p:txBody>
      </p:sp>
      <p:pic>
        <p:nvPicPr>
          <p:cNvPr id="7" name="Symbol zastępczy zawartości 6" descr="Obraz zawierający wzór, kwadrat, Prostokąt, Wielobarwność&#10;&#10;Zawartość wygenerowana przez AI może być niepoprawna.">
            <a:extLst>
              <a:ext uri="{FF2B5EF4-FFF2-40B4-BE49-F238E27FC236}">
                <a16:creationId xmlns:a16="http://schemas.microsoft.com/office/drawing/2014/main" id="{F5C67687-11EF-0225-4197-6FB3401A1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070" y="1173019"/>
            <a:ext cx="11311857" cy="53016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2561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E43883B8-7282-8397-7266-97A2F423A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228" y="2039113"/>
            <a:ext cx="10216895" cy="2584040"/>
          </a:xfrm>
        </p:spPr>
        <p:txBody>
          <a:bodyPr>
            <a:normAutofit/>
          </a:bodyPr>
          <a:lstStyle/>
          <a:p>
            <a:r>
              <a:rPr lang="pl-PL" sz="5400" dirty="0"/>
              <a:t>Analiza Pewności Modelu (Deep Dive)</a:t>
            </a:r>
            <a:br>
              <a:rPr lang="pl-PL" sz="5400" b="1" dirty="0"/>
            </a:br>
            <a:endParaRPr lang="pl-PL" sz="5400" dirty="0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997DBCA-EC82-82E8-22D2-9EEF8D564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3458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756693CA-ABC7-70AC-C702-957BC5F79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Rozkład Pewności (Confidence Dist: 0/1 vs TBM) 0/1</a:t>
            </a:r>
          </a:p>
        </p:txBody>
      </p:sp>
      <p:pic>
        <p:nvPicPr>
          <p:cNvPr id="6" name="Symbol zastępczy zawartości 5" descr="Obraz zawierający diagram, Wykres, linia, tekst&#10;&#10;Zawartość wygenerowana przez AI może być niepoprawna.">
            <a:extLst>
              <a:ext uri="{FF2B5EF4-FFF2-40B4-BE49-F238E27FC236}">
                <a16:creationId xmlns:a16="http://schemas.microsoft.com/office/drawing/2014/main" id="{90BF73AC-B2B2-9726-3694-74E8D033F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835" y="2096654"/>
            <a:ext cx="11434330" cy="371323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210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40F0B3-FF85-2CE4-C770-573E7FAC7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TBM</a:t>
            </a:r>
          </a:p>
        </p:txBody>
      </p:sp>
      <p:pic>
        <p:nvPicPr>
          <p:cNvPr id="7" name="Symbol zastępczy zawartości 6" descr="Obraz zawierający diagram, Wykres, linia&#10;&#10;Zawartość wygenerowana przez AI może być niepoprawna.">
            <a:extLst>
              <a:ext uri="{FF2B5EF4-FFF2-40B4-BE49-F238E27FC236}">
                <a16:creationId xmlns:a16="http://schemas.microsoft.com/office/drawing/2014/main" id="{8BD7B9E1-E4A5-B2DC-6F68-87CEC2B6C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762" y="1953072"/>
            <a:ext cx="11674475" cy="370525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9747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Kalkulator, pióro, kompas, pieniądze i papier z drukowanymi wykresami">
            <a:extLst>
              <a:ext uri="{FF2B5EF4-FFF2-40B4-BE49-F238E27FC236}">
                <a16:creationId xmlns:a16="http://schemas.microsoft.com/office/drawing/2014/main" id="{03344137-518D-9C0F-FF2D-CE1427154F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b="6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380DF72-D037-733C-30F8-1ADD59E02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pl-PL" dirty="0"/>
              <a:t>Wnioski końcowe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4FAA7E-0AB8-7435-328A-9102446A9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10353762" cy="3714749"/>
          </a:xfrm>
        </p:spPr>
        <p:txBody>
          <a:bodyPr anchor="ctr">
            <a:normAutofit/>
          </a:bodyPr>
          <a:lstStyle/>
          <a:p>
            <a:r>
              <a:rPr lang="pl-PL" sz="2800" b="1" dirty="0"/>
              <a:t>Klasyfikacja 0/1</a:t>
            </a:r>
            <a:r>
              <a:rPr lang="pl-PL" sz="2800" dirty="0"/>
              <a:t> na giełdzie jest mało użyteczna i prowadzi do ogromnych obsunięć kapitału.</a:t>
            </a:r>
          </a:p>
          <a:p>
            <a:r>
              <a:rPr lang="pl-PL" sz="2800" b="1" dirty="0"/>
              <a:t>Triple Barrier Method</a:t>
            </a:r>
            <a:r>
              <a:rPr lang="pl-PL" sz="2800" dirty="0"/>
              <a:t> drastycznie poprawia wyniki finansowe poprzez wbudowane mechanizmy Stop Loss i Profit Taking.</a:t>
            </a:r>
          </a:p>
          <a:p>
            <a:r>
              <a:rPr lang="pl-PL" sz="2800" b="1" dirty="0"/>
              <a:t>Wynik:</a:t>
            </a:r>
            <a:r>
              <a:rPr lang="pl-PL" sz="2800" dirty="0"/>
              <a:t> Model Ensemble najlepiej poradził sobie z AAPL, co sugeruje, że cechy techniczne lepiej działają na płynnych spółkach o silnym trendzie.</a:t>
            </a:r>
          </a:p>
        </p:txBody>
      </p:sp>
    </p:spTree>
    <p:extLst>
      <p:ext uri="{BB962C8B-B14F-4D97-AF65-F5344CB8AC3E}">
        <p14:creationId xmlns:p14="http://schemas.microsoft.com/office/powerpoint/2010/main" val="802329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Bookman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164</Words>
  <Application>Microsoft Office PowerPoint</Application>
  <PresentationFormat>Panoramiczny</PresentationFormat>
  <Paragraphs>21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9" baseType="lpstr">
      <vt:lpstr>Bookman Old Style</vt:lpstr>
      <vt:lpstr>Franklin Gothic Book</vt:lpstr>
      <vt:lpstr>Wingdings 2</vt:lpstr>
      <vt:lpstr>SlateVTI</vt:lpstr>
      <vt:lpstr>Zastosowanie ML do predykcji cen akcji (AAPL, MSFT, GOOGL) </vt:lpstr>
      <vt:lpstr>Podejście Klasyczne (Klasyfikacja 0/1)</vt:lpstr>
      <vt:lpstr>Diagnostyka Klasyfikacji (ROC Curve)</vt:lpstr>
      <vt:lpstr>Stabilność w czasie (Rolling Accuracy 0/1)</vt:lpstr>
      <vt:lpstr>Wyniki Finansowe Klasyfikacji (Equity Curve &amp; Drawdown)</vt:lpstr>
      <vt:lpstr>Drawdown</vt:lpstr>
      <vt:lpstr>Podejście Zaawansowane (Triple Barrier Method - TBM)</vt:lpstr>
      <vt:lpstr>Porównanie Modeli (Model Comparison)</vt:lpstr>
      <vt:lpstr>Przełom w Wynikach (TBM Equity Curve)</vt:lpstr>
      <vt:lpstr>Analiza Ryzyka i Zysku (P/L &amp; Heatmap TBM)</vt:lpstr>
      <vt:lpstr>Heatmap</vt:lpstr>
      <vt:lpstr>Analiza Pewności Modelu (Deep Dive) </vt:lpstr>
      <vt:lpstr>Rozkład Pewności (Confidence Dist: 0/1 vs TBM) 0/1</vt:lpstr>
      <vt:lpstr>TBM</vt:lpstr>
      <vt:lpstr>Wnioski końcowe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Kociszewski</dc:creator>
  <cp:lastModifiedBy>Jan Kociszewski</cp:lastModifiedBy>
  <cp:revision>2</cp:revision>
  <dcterms:created xsi:type="dcterms:W3CDTF">2026-02-03T21:30:11Z</dcterms:created>
  <dcterms:modified xsi:type="dcterms:W3CDTF">2026-02-04T07:11:30Z</dcterms:modified>
</cp:coreProperties>
</file>